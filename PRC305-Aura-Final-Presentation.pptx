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975335" y="822960"/>
            <a:ext cx="10484857" cy="5349240"/>
          </a:xfrm>
          <a:prstGeom prst="roundRect">
            <a:avLst/>
          </a:prstGeom>
          <a:solidFill>
            <a:srgbClr val="313244"/>
          </a:solidFill>
          <a:ln w="1524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" y="548640"/>
            <a:ext cx="73150" cy="57607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1341086" y="1028700"/>
            <a:ext cx="9753356" cy="109728"/>
          </a:xfrm>
          <a:prstGeom prst="rect">
            <a:avLst/>
          </a:prstGeom>
          <a:solidFill>
            <a:srgbClr val="E3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1341086" y="914400"/>
            <a:ext cx="975335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4B5563"/>
                </a:solidFill>
              </a:defRPr>
            </a:pPr>
            <a:r>
              <a:rPr b="1" sz="3800">
                <a:solidFill>
                  <a:srgbClr val="EEF2FF"/>
                </a:solidFill>
                <a:latin typeface="JetBrains Mono"/>
              </a:rPr>
              <a:t>PRC 305: Web Design &amp; Content Management Systems for PR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3800" b="1">
                <a:solidFill>
                  <a:srgbClr val="060D18"/>
                </a:solidFill>
              </a:defRPr>
            </a:pPr>
            <a:r>
              <a:rPr sz="1600">
                <a:solidFill>
                  <a:srgbClr val="CDD6F4"/>
                </a:solidFill>
                <a:latin typeface="JetBrains Mono"/>
              </a:rPr>
              <a:t>• Final Project Presentation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E3C76F"/>
                </a:solidFill>
              </a:defRPr>
            </a:pPr>
            <a:r>
              <a:rPr sz="1600">
                <a:solidFill>
                  <a:srgbClr val="CDD6F4"/>
                </a:solidFill>
                <a:latin typeface="JetBrains Mono"/>
              </a:rPr>
              <a:t>• Aura Energy — Premium Functional Beverages (East Africa)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1086" y="4754880"/>
            <a:ext cx="97533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282D37"/>
                </a:solidFill>
              </a:defRPr>
            </a:pPr>
            <a:r>
              <a:rPr b="1" sz="3800">
                <a:solidFill>
                  <a:srgbClr val="EEF2FF"/>
                </a:solidFill>
                <a:latin typeface="JetBrains Mono"/>
              </a:rPr>
              <a:t>John Alexander Kamau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282D37"/>
                </a:solidFill>
              </a:defRPr>
            </a:pPr>
            <a:r>
              <a:rPr sz="1600">
                <a:solidFill>
                  <a:srgbClr val="CDD6F4"/>
                </a:solidFill>
                <a:latin typeface="JetBrains Mono"/>
              </a:rPr>
              <a:t>• Student No. 20-0471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4B5563"/>
                </a:solidFill>
              </a:defRPr>
            </a:pPr>
            <a:r>
              <a:rPr sz="1600">
                <a:solidFill>
                  <a:srgbClr val="CDD6F4"/>
                </a:solidFill>
                <a:latin typeface="JetBrains Mono"/>
              </a:rPr>
              <a:t>• School of Communication  ·  January–April 2026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4B5563"/>
                </a:solidFill>
              </a:defRPr>
            </a:pPr>
            <a:r>
              <a:rPr sz="1600">
                <a:solidFill>
                  <a:srgbClr val="CDD6F4"/>
                </a:solidFill>
                <a:latin typeface="JetBrains Mono"/>
              </a:rPr>
              <a:t>• Submission date: 1 April 2026 (per course outline)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52" y="6309360"/>
            <a:ext cx="9997189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49C"/>
                </a:solidFill>
                <a:latin typeface="JetBrains Mono"/>
              </a:rPr>
              <a:t>AURA ENERGY  |  PRC 305 WEB DEVELOPMENT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975335" y="822960"/>
            <a:ext cx="10484857" cy="5349240"/>
          </a:xfrm>
          <a:prstGeom prst="roundRect">
            <a:avLst/>
          </a:prstGeom>
          <a:solidFill>
            <a:srgbClr val="313244"/>
          </a:solidFill>
          <a:ln w="1524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548640"/>
            <a:ext cx="73150" cy="57607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086" y="102870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060D18"/>
                </a:solidFill>
              </a:defRPr>
            </a:pPr>
            <a:r>
              <a:rPr b="1" sz="3000">
                <a:solidFill>
                  <a:srgbClr val="EEF2FF"/>
                </a:solidFill>
                <a:latin typeface="JetBrains Mono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086" y="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900">
                <a:solidFill>
                  <a:srgbClr val="4B5563"/>
                </a:solidFill>
              </a:defRPr>
            </a:pPr>
            <a:r>
              <a:rPr b="1" sz="3000">
                <a:solidFill>
                  <a:srgbClr val="EEF2FF"/>
                </a:solidFill>
                <a:latin typeface="JetBrains Mono"/>
              </a:rPr>
              <a:t>Project introduction and background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Objectives and problem statement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Design process and UI/UX considerations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Development approach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Challenges and solutions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Live demonstration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Recommendations, conclusion, and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52" y="6309360"/>
            <a:ext cx="9997189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49C"/>
                </a:solidFill>
                <a:latin typeface="JetBrains Mono"/>
              </a:rPr>
              <a:t>AURA ENERGY  |  PRC 305 WEB DEVELOPMENT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975335" y="822960"/>
            <a:ext cx="10484857" cy="5349240"/>
          </a:xfrm>
          <a:prstGeom prst="roundRect">
            <a:avLst/>
          </a:prstGeom>
          <a:solidFill>
            <a:srgbClr val="313244"/>
          </a:solidFill>
          <a:ln w="1524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548640"/>
            <a:ext cx="73150" cy="57607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086" y="102870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060D18"/>
                </a:solidFill>
              </a:defRPr>
            </a:pPr>
            <a:r>
              <a:rPr b="1" sz="3000">
                <a:solidFill>
                  <a:srgbClr val="EEF2FF"/>
                </a:solidFill>
                <a:latin typeface="JetBrains Mono"/>
              </a:rPr>
              <a:t>Project 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086" y="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rPr sz="1700">
                <a:solidFill>
                  <a:srgbClr val="CDD6F4"/>
                </a:solidFill>
                <a:latin typeface="JetBrains Mono"/>
              </a:rPr>
              <a:t>Aura Energy is a premium functional beverage concept for professionals, creators, and shift workers in East Africa.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The website was designed to build trust, communicate product value, and provide a clear contact path.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This project applies the full CMS workflow from planning to implementation and presentation.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52" y="6309360"/>
            <a:ext cx="9997189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49C"/>
                </a:solidFill>
                <a:latin typeface="JetBrains Mono"/>
              </a:rPr>
              <a:t>AURA ENERGY  |  PRC 305 WEB DEVELOPMENT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975335" y="822960"/>
            <a:ext cx="10484857" cy="5349240"/>
          </a:xfrm>
          <a:prstGeom prst="roundRect">
            <a:avLst/>
          </a:prstGeom>
          <a:solidFill>
            <a:srgbClr val="313244"/>
          </a:solidFill>
          <a:ln w="1524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548640"/>
            <a:ext cx="73150" cy="57607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086" y="102870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060D18"/>
                </a:solidFill>
              </a:defRPr>
            </a:pPr>
            <a:r>
              <a:rPr b="1" sz="3000">
                <a:solidFill>
                  <a:srgbClr val="EEF2FF"/>
                </a:solidFill>
                <a:latin typeface="JetBrains Mono"/>
              </a:rPr>
              <a:t>Objectives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086" y="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rPr sz="1700">
                <a:solidFill>
                  <a:srgbClr val="CDD6F4"/>
                </a:solidFill>
                <a:latin typeface="JetBrains Mono"/>
              </a:rPr>
              <a:t>Problem: without a strong website, emerging brands lose credibility and user trust quickly.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Objective 1: build a complete WordPress site with Home, About, Products, and Contact pages.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Objective 2: deliver responsive, user-centered navigation and content flow.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Objective 3: implement a working contact form with validation and notification.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52" y="6309360"/>
            <a:ext cx="9997189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49C"/>
                </a:solidFill>
                <a:latin typeface="JetBrains Mono"/>
              </a:rPr>
              <a:t>AURA ENERGY  |  PRC 305 WEB DEVELOPMENT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975335" y="822960"/>
            <a:ext cx="10484857" cy="5349240"/>
          </a:xfrm>
          <a:prstGeom prst="roundRect">
            <a:avLst/>
          </a:prstGeom>
          <a:solidFill>
            <a:srgbClr val="313244"/>
          </a:solidFill>
          <a:ln w="1524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548640"/>
            <a:ext cx="73150" cy="57607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086" y="102870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060D18"/>
                </a:solidFill>
              </a:defRPr>
            </a:pPr>
            <a:r>
              <a:rPr b="1" sz="3000">
                <a:solidFill>
                  <a:srgbClr val="EEF2FF"/>
                </a:solidFill>
                <a:latin typeface="JetBrains Mono"/>
              </a:rPr>
              <a:t>Design Process &amp; UI/UX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086" y="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rPr sz="1700">
                <a:solidFill>
                  <a:srgbClr val="CDD6F4"/>
                </a:solidFill>
                <a:latin typeface="JetBrains Mono"/>
              </a:rPr>
              <a:t>Built a consistent visual identity across typography, spacing, color, and imagery.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Structured each page for quick scanning: brand context, offer clarity, and clear call-to-action.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Optimized for usability on desktop, tablet, and mobile.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52" y="6309360"/>
            <a:ext cx="9997189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49C"/>
                </a:solidFill>
                <a:latin typeface="JetBrains Mono"/>
              </a:rPr>
              <a:t>AURA ENERGY  |  PRC 305 WEB DEVELOPMENT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975335" y="822960"/>
            <a:ext cx="10484857" cy="5349240"/>
          </a:xfrm>
          <a:prstGeom prst="roundRect">
            <a:avLst/>
          </a:prstGeom>
          <a:solidFill>
            <a:srgbClr val="313244"/>
          </a:solidFill>
          <a:ln w="1524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548640"/>
            <a:ext cx="73150" cy="57607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1341086" y="1028700"/>
            <a:ext cx="9753356" cy="6858000"/>
          </a:xfrm>
          <a:prstGeom prst="rect">
            <a:avLst/>
          </a:prstGeom>
          <a:solidFill>
            <a:srgbClr val="06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b="1" sz="3000">
                <a:solidFill>
                  <a:srgbClr val="EEF2FF"/>
                </a:solidFill>
                <a:latin typeface="JetBrains Mono"/>
              </a:rPr>
              <a:t>Website Structure &amp;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1086" y="2560320"/>
            <a:ext cx="97533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3600" b="1">
                <a:solidFill>
                  <a:srgbClr val="E3C76F"/>
                </a:solidFill>
              </a:defRPr>
            </a:pPr>
            <a:r>
              <a:rPr b="1" sz="3000">
                <a:solidFill>
                  <a:srgbClr val="EEF2FF"/>
                </a:solidFill>
                <a:latin typeface="JetBrains Mono"/>
              </a:rPr>
              <a:t>Home: brand intro, featured highlights, CTA.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About: brand story, context, positioning.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Products: lineup details and supporting visuals.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Contact: validated form, map, and social section with launch-state messaging.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52" y="6309360"/>
            <a:ext cx="9997189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49C"/>
                </a:solidFill>
                <a:latin typeface="JetBrains Mono"/>
              </a:rPr>
              <a:t>AURA ENERGY  |  PRC 305 WEB DEVELOPMENT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975335" y="822960"/>
            <a:ext cx="10484857" cy="5349240"/>
          </a:xfrm>
          <a:prstGeom prst="roundRect">
            <a:avLst/>
          </a:prstGeom>
          <a:solidFill>
            <a:srgbClr val="313244"/>
          </a:solidFill>
          <a:ln w="1524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548640"/>
            <a:ext cx="73150" cy="57607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086" y="102870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060D18"/>
                </a:solidFill>
              </a:defRPr>
            </a:pPr>
            <a:r>
              <a:rPr b="1" sz="3000">
                <a:solidFill>
                  <a:srgbClr val="EEF2FF"/>
                </a:solidFill>
                <a:latin typeface="JetBrains Mono"/>
              </a:rPr>
              <a:t>Development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086" y="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rPr sz="1700">
                <a:solidFill>
                  <a:srgbClr val="CDD6F4"/>
                </a:solidFill>
                <a:latin typeface="JetBrains Mono"/>
              </a:rPr>
              <a:t>Implemented using WordPress CMS with Elementor page building workflow.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Standardized page setup and styling for consistency and maintainability.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Tested and refined content, responsiveness, and interaction behavior iteratively.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52" y="6309360"/>
            <a:ext cx="9997189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49C"/>
                </a:solidFill>
                <a:latin typeface="JetBrains Mono"/>
              </a:rPr>
              <a:t>AURA ENERGY  |  PRC 305 WEB DEVELOPMENT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975335" y="822960"/>
            <a:ext cx="10484857" cy="5349240"/>
          </a:xfrm>
          <a:prstGeom prst="roundRect">
            <a:avLst/>
          </a:prstGeom>
          <a:solidFill>
            <a:srgbClr val="313244"/>
          </a:solidFill>
          <a:ln w="1524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548640"/>
            <a:ext cx="73150" cy="57607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086" y="102870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060D18"/>
                </a:solidFill>
              </a:defRPr>
            </a:pPr>
            <a:r>
              <a:rPr b="1" sz="3000">
                <a:solidFill>
                  <a:srgbClr val="EEF2FF"/>
                </a:solidFill>
                <a:latin typeface="JetBrains Mono"/>
              </a:rPr>
              <a:t>Challenges Encountered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086" y="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rPr b="1" sz="3000">
                <a:solidFill>
                  <a:srgbClr val="EEF2FF"/>
                </a:solidFill>
                <a:latin typeface="JetBrains Mono"/>
              </a:rPr>
              <a:t>Challenge: inconsistent rendering and missing media in some sections.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Solution: corrected asset references and stabilized page rendering behavior.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Challenge: contact delivery reliability from local environment.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Solution: configured SMTP and verified successful form submissions.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52" y="6309360"/>
            <a:ext cx="9997189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49C"/>
                </a:solidFill>
                <a:latin typeface="JetBrains Mono"/>
              </a:rPr>
              <a:t>AURA ENERGY  |  PRC 305 WEB DEVELOPMENT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975335" y="822960"/>
            <a:ext cx="10484857" cy="5349240"/>
          </a:xfrm>
          <a:prstGeom prst="roundRect">
            <a:avLst/>
          </a:prstGeom>
          <a:solidFill>
            <a:srgbClr val="313244"/>
          </a:solidFill>
          <a:ln w="1524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548640"/>
            <a:ext cx="73150" cy="57607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1341086" y="1028700"/>
            <a:ext cx="9753356" cy="6858000"/>
          </a:xfrm>
          <a:prstGeom prst="rect">
            <a:avLst/>
          </a:prstGeom>
          <a:solidFill>
            <a:srgbClr val="06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b="1" sz="3000">
                <a:solidFill>
                  <a:srgbClr val="EEF2FF"/>
                </a:solidFill>
                <a:latin typeface="JetBrains Mono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1086" y="2560320"/>
            <a:ext cx="97533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3600" b="1">
                <a:solidFill>
                  <a:srgbClr val="E3C76F"/>
                </a:solidFill>
              </a:defRPr>
            </a:pPr>
            <a:r>
              <a:rPr sz="1700">
                <a:solidFill>
                  <a:srgbClr val="CDD6F4"/>
                </a:solidFill>
                <a:latin typeface="JetBrains Mono"/>
              </a:rPr>
              <a:t>Open live website: https://08e8-41-90-185-182.ngrok-free.app/wordpress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Navigate Home, About, Products, Contact.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Show responsive behavior (desktop + mobile view).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Run contact form tests: empty validation, invalid email, valid submit success.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Show evidence: form entry captured in admin and email notification received.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52" y="6309360"/>
            <a:ext cx="9997189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49C"/>
                </a:solidFill>
                <a:latin typeface="JetBrains Mono"/>
              </a:rPr>
              <a:t>AURA ENERGY  |  PRC 305 WEB DEVELOPMENT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975335" y="822960"/>
            <a:ext cx="10484857" cy="5349240"/>
          </a:xfrm>
          <a:prstGeom prst="roundRect">
            <a:avLst/>
          </a:prstGeom>
          <a:solidFill>
            <a:srgbClr val="313244"/>
          </a:solidFill>
          <a:ln w="1524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548640"/>
            <a:ext cx="73150" cy="57607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086" y="102870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060D18"/>
                </a:solidFill>
              </a:defRPr>
            </a:pPr>
            <a:r>
              <a:rPr b="1" sz="3000">
                <a:solidFill>
                  <a:srgbClr val="EEF2FF"/>
                </a:solidFill>
                <a:latin typeface="JetBrains Mono"/>
              </a:rPr>
              <a:t>Recommendations, 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086" y="0"/>
          </a:xfrm>
        </p:spPr>
        <p:txBody>
          <a:bodyPr wrap="square"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rPr sz="1700">
                <a:solidFill>
                  <a:srgbClr val="CDD6F4"/>
                </a:solidFill>
                <a:latin typeface="JetBrains Mono"/>
              </a:rPr>
              <a:t>Recommendations: continue improving content, SEO metadata, and social rollout.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Conclusion: project meets PRC305 functional, design, structure, and presentation outcomes.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Submission evidence: Live URL - https://08e8-41-90-185-182.ngrok-free.app/wordpress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GitHub Repository - https://github.com/Xander-AJ/PRC-305x---Aura-Website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Local backup URL - http://localhost/wordpress/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CDD6F4"/>
                </a:solidFill>
                <a:latin typeface="JetBrains Mono"/>
              </a:rPr>
              <a:t>• Thank you - Questions and feedback welcome.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52" y="6309360"/>
            <a:ext cx="9997189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49C"/>
                </a:solidFill>
                <a:latin typeface="JetBrains Mono"/>
              </a:rPr>
              <a:t>AURA ENERGY  |  PRC 305 WEB DEVELOPMENT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